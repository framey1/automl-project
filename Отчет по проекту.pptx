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3950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Автоматизация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ML-пайплайна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77240" y="26060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07086"/>
                </a:solidFill>
              </a:rPr>
              <a:t>Проект по дисциплине «Автоматизация машинного обучения»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3246120"/>
            <a:ext cx="3063240" cy="347472"/>
          </a:xfrm>
          <a:prstGeom prst="roundRect">
            <a:avLst>
              <a:gd name="adj" fmla="val 21053"/>
            </a:avLst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3328416"/>
            <a:ext cx="2843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Breast Cancer Wisconsin Diagnostic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977640" y="3246120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87368" y="3328416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Custom AutoML + MLOps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4069080"/>
            <a:ext cx="457200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3891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212F"/>
                </a:solidFill>
              </a:rPr>
              <a:t>Студент: </a:t>
            </a:r>
            <a:r>
              <a:rPr lang="ru-RU" sz="1100" dirty="0">
                <a:solidFill>
                  <a:srgbClr val="18212F"/>
                </a:solidFill>
              </a:rPr>
              <a:t>Фабрикант Владислав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8212F"/>
                </a:solidFill>
              </a:rPr>
              <a:t>Преподаватель: Елена Смысловских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0" y="1554480"/>
            <a:ext cx="1371600" cy="621792"/>
          </a:xfrm>
          <a:prstGeom prst="roundRect">
            <a:avLst>
              <a:gd name="adj" fmla="val 8824"/>
            </a:avLst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88352" y="173736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ETL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915400" y="2331720"/>
            <a:ext cx="1600200" cy="621792"/>
          </a:xfrm>
          <a:prstGeom prst="roundRect">
            <a:avLst>
              <a:gd name="adj" fmla="val 8824"/>
            </a:avLst>
          </a:prstGeom>
          <a:solidFill>
            <a:srgbClr val="27AE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88552" y="251460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AutoML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0" y="3246120"/>
            <a:ext cx="1508760" cy="621792"/>
          </a:xfrm>
          <a:prstGeom prst="roundRect">
            <a:avLst>
              <a:gd name="adj" fmla="val 8824"/>
            </a:avLst>
          </a:prstGeom>
          <a:solidFill>
            <a:srgbClr val="EB57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9792" y="3429000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CI/CD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0" y="3977640"/>
            <a:ext cx="1600200" cy="621792"/>
          </a:xfrm>
          <a:prstGeom prst="roundRect">
            <a:avLst>
              <a:gd name="adj" fmla="val 8824"/>
            </a:avLst>
          </a:prstGeom>
          <a:solidFill>
            <a:srgbClr val="1632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7152" y="416052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MLflow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D7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5653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6"/>
                </a:solidFill>
              </a:rPr>
              <a:t>Автоматизация машинного обучения • проект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07086"/>
                </a:solidFill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Задача и данные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086"/>
                </a:solidFill>
              </a:rPr>
              <a:t>Что автоматизируем и на каких данных обучаем модель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80ED"/>
                </a:solidFill>
              </a:rPr>
              <a:t>569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6"/>
                </a:solidFill>
              </a:rPr>
              <a:t>объектов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697480" y="1417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80ED"/>
                </a:solidFill>
              </a:rPr>
              <a:t>30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697480" y="18288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6"/>
                </a:solidFill>
              </a:rPr>
              <a:t>признаков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26280" y="1417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80ED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26280" y="18288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6"/>
                </a:solidFill>
              </a:rPr>
              <a:t>класса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0ED"/>
                </a:solidFill>
              </a:rPr>
              <a:t>•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7432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12F"/>
                </a:solidFill>
              </a:rPr>
              <a:t>Тип задачи: бинарная классификация медицинских наблюдений.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31546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0ED"/>
                </a:solidFill>
              </a:rPr>
              <a:t>•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31546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12F"/>
                </a:solidFill>
              </a:rPr>
              <a:t>Датасет встроен в scikit-learn, поэтому проект воспроизводится без внешних загрузок.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356616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0ED"/>
                </a:solidFill>
              </a:rPr>
              <a:t>•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35661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12F"/>
                </a:solidFill>
              </a:rPr>
              <a:t>Результат пайплайна: обученная модель, метрики, графики и мониторинг.</a:t>
            </a:r>
            <a:endParaRPr lang="en-US" sz="1050" dirty="0"/>
          </a:p>
        </p:txBody>
      </p:sp>
      <p:pic>
        <p:nvPicPr>
          <p:cNvPr id="16" name="Image 0" descr="/mnt/data/automl_project_smyslovskikh/reports/figures/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234440"/>
            <a:ext cx="4389120" cy="32004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583680" y="4709160"/>
            <a:ext cx="4480560" cy="0"/>
          </a:xfrm>
          <a:prstGeom prst="line">
            <a:avLst/>
          </a:prstGeom>
          <a:noFill/>
          <a:ln w="12700">
            <a:solidFill>
              <a:srgbClr val="D7E2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20840" y="49834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212F"/>
                </a:solidFill>
              </a:rPr>
              <a:t>Распределение классов показывает, что стратифицированное train/test-разделение важно для честной оценки.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D7E2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65653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6"/>
                </a:solidFill>
              </a:rPr>
              <a:t>Автоматизация машинного обучения • проект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07086"/>
                </a:solidFill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Архитектура ML-пайплайна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086"/>
                </a:solidFill>
              </a:rPr>
              <a:t>От данных до мониторинга и CI/CD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148840" y="2734056"/>
            <a:ext cx="438912" cy="0"/>
          </a:xfrm>
          <a:prstGeom prst="line">
            <a:avLst/>
          </a:prstGeom>
          <a:noFill/>
          <a:ln w="17780">
            <a:solidFill>
              <a:srgbClr val="D7E2F0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931920" y="2734056"/>
            <a:ext cx="438912" cy="0"/>
          </a:xfrm>
          <a:prstGeom prst="line">
            <a:avLst/>
          </a:prstGeom>
          <a:noFill/>
          <a:ln w="17780">
            <a:solidFill>
              <a:srgbClr val="D7E2F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715000" y="2734056"/>
            <a:ext cx="438912" cy="0"/>
          </a:xfrm>
          <a:prstGeom prst="line">
            <a:avLst/>
          </a:prstGeom>
          <a:noFill/>
          <a:ln w="17780">
            <a:solidFill>
              <a:srgbClr val="D7E2F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498080" y="2734056"/>
            <a:ext cx="438912" cy="0"/>
          </a:xfrm>
          <a:prstGeom prst="line">
            <a:avLst/>
          </a:prstGeom>
          <a:noFill/>
          <a:ln w="17780">
            <a:solidFill>
              <a:srgbClr val="D7E2F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281160" y="2734056"/>
            <a:ext cx="438912" cy="0"/>
          </a:xfrm>
          <a:prstGeom prst="line">
            <a:avLst/>
          </a:prstGeom>
          <a:noFill/>
          <a:ln w="17780">
            <a:solidFill>
              <a:srgbClr val="D7E2F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2423160"/>
            <a:ext cx="1325880" cy="621792"/>
          </a:xfrm>
          <a:prstGeom prst="roundRect">
            <a:avLst>
              <a:gd name="adj" fmla="val 8824"/>
            </a:avLst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60604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Extract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2423160"/>
            <a:ext cx="1325880" cy="621792"/>
          </a:xfrm>
          <a:prstGeom prst="roundRect">
            <a:avLst>
              <a:gd name="adj" fmla="val 8824"/>
            </a:avLst>
          </a:prstGeom>
          <a:solidFill>
            <a:srgbClr val="56CC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260604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Transform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2423160"/>
            <a:ext cx="1325880" cy="621792"/>
          </a:xfrm>
          <a:prstGeom prst="roundRect">
            <a:avLst>
              <a:gd name="adj" fmla="val 8824"/>
            </a:avLst>
          </a:prstGeom>
          <a:solidFill>
            <a:srgbClr val="27AE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260604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AutoML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2423160"/>
            <a:ext cx="1325880" cy="621792"/>
          </a:xfrm>
          <a:prstGeom prst="roundRect">
            <a:avLst>
              <a:gd name="adj" fmla="val 8824"/>
            </a:avLst>
          </a:prstGeom>
          <a:solidFill>
            <a:srgbClr val="F2C9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260604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Evaluate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0" y="2423160"/>
            <a:ext cx="1325880" cy="621792"/>
          </a:xfrm>
          <a:prstGeom prst="roundRect">
            <a:avLst>
              <a:gd name="adj" fmla="val 8824"/>
            </a:avLst>
          </a:prstGeom>
          <a:solidFill>
            <a:srgbClr val="EB57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28432" y="260604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Load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738360" y="2423160"/>
            <a:ext cx="1325880" cy="621792"/>
          </a:xfrm>
          <a:prstGeom prst="roundRect">
            <a:avLst>
              <a:gd name="adj" fmla="val 8824"/>
            </a:avLst>
          </a:prstGeom>
          <a:solidFill>
            <a:srgbClr val="1632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11512" y="260604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Monitor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246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8212F"/>
                </a:solidFill>
              </a:rPr>
              <a:t>загрузка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8212F"/>
                </a:solidFill>
              </a:rPr>
              <a:t>CSV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51760" y="3246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8212F"/>
                </a:solidFill>
              </a:rPr>
              <a:t>валидация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8212F"/>
                </a:solidFill>
              </a:rPr>
              <a:t>split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34840" y="3246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8212F"/>
                </a:solidFill>
              </a:rPr>
              <a:t>GridSearchCV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8212F"/>
                </a:solidFill>
              </a:rPr>
              <a:t>F1-score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17920" y="3246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8212F"/>
                </a:solidFill>
              </a:rPr>
              <a:t>метрики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8212F"/>
                </a:solidFill>
              </a:rPr>
              <a:t>графики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01000" y="3246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8212F"/>
                </a:solidFill>
              </a:rPr>
              <a:t>модель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8212F"/>
                </a:solidFill>
              </a:rPr>
              <a:t>артефакты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784080" y="3246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8212F"/>
                </a:solidFill>
              </a:rPr>
              <a:t>MLflow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8212F"/>
                </a:solidFill>
              </a:rPr>
              <a:t>JSON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463040" y="4251960"/>
            <a:ext cx="9235440" cy="0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2971800" y="46634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24F"/>
                </a:solidFill>
              </a:rPr>
              <a:t>Пайплайн запускается одной командой: python -m src.train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926080" y="51389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086"/>
                </a:solidFill>
              </a:rPr>
              <a:t>Та же логика запускается локально, в Docker и в GitHub Actions.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D7E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653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6"/>
                </a:solidFill>
              </a:rPr>
              <a:t>Автоматизация машинного обучения • проект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07086"/>
                </a:solidFill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AutoML: автоматический выбор модели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086"/>
                </a:solidFill>
              </a:rPr>
              <a:t>Кастомная автоматизация на scikit-learn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</a:rPr>
              <a:t>Модель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80360" y="1234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</a:rPr>
              <a:t>Что автоматизируется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581912"/>
            <a:ext cx="5303520" cy="0"/>
          </a:xfrm>
          <a:prstGeom prst="line">
            <a:avLst/>
          </a:prstGeom>
          <a:noFill/>
          <a:ln w="8890">
            <a:solidFill>
              <a:srgbClr val="D7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212F"/>
                </a:solidFill>
              </a:rPr>
              <a:t>Logistic Regression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80360" y="169164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212F"/>
                </a:solidFill>
              </a:rPr>
              <a:t>масштабирование + подбор 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2057400"/>
            <a:ext cx="5303520" cy="0"/>
          </a:xfrm>
          <a:prstGeom prst="line">
            <a:avLst/>
          </a:prstGeom>
          <a:noFill/>
          <a:ln w="8890">
            <a:solidFill>
              <a:srgbClr val="D7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6712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212F"/>
                </a:solidFill>
              </a:rPr>
              <a:t>Random Forest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80360" y="216712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212F"/>
                </a:solidFill>
              </a:rPr>
              <a:t>подбор глубины и числа деревьев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2532888"/>
            <a:ext cx="5303520" cy="0"/>
          </a:xfrm>
          <a:prstGeom prst="line">
            <a:avLst/>
          </a:prstGeom>
          <a:noFill/>
          <a:ln w="8890">
            <a:solidFill>
              <a:srgbClr val="D7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4261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212F"/>
                </a:solidFill>
              </a:rPr>
              <a:t>SVC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80360" y="264261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212F"/>
                </a:solidFill>
              </a:rPr>
              <a:t>масштабирование + kernel/C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3008376"/>
            <a:ext cx="5303520" cy="0"/>
          </a:xfrm>
          <a:prstGeom prst="line">
            <a:avLst/>
          </a:prstGeom>
          <a:noFill/>
          <a:ln w="8890">
            <a:solidFill>
              <a:srgbClr val="D7E2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11810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212F"/>
                </a:solidFill>
              </a:rPr>
              <a:t>Gradient Boosting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80360" y="311810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212F"/>
                </a:solidFill>
              </a:rPr>
              <a:t>learning rate и depth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03720" y="1371600"/>
            <a:ext cx="4251960" cy="1920240"/>
          </a:xfrm>
          <a:prstGeom prst="roundRect">
            <a:avLst>
              <a:gd name="adj" fmla="val 3810"/>
            </a:avLst>
          </a:prstGeom>
          <a:solidFill>
            <a:srgbClr val="EEF7FF"/>
          </a:solidFill>
          <a:ln w="12700">
            <a:solidFill>
              <a:srgbClr val="EEF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16916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7086"/>
                </a:solidFill>
              </a:rPr>
              <a:t>Лучшая модель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78040" y="2029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</a:rPr>
              <a:t>logistic regression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17804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80ED"/>
                </a:solidFill>
              </a:rPr>
              <a:t>CV F1-score: 0.9845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34340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0ED"/>
                </a:solidFill>
              </a:rPr>
              <a:t>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43434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12F"/>
                </a:solidFill>
              </a:rPr>
              <a:t>Все модели сравниваются по одной метрике, поэтому выбор прозрачен.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47548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0ED"/>
                </a:solidFill>
              </a:rPr>
              <a:t>•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7548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12F"/>
                </a:solidFill>
              </a:rPr>
              <a:t>GridSearchCV сохраняет лучший estimator, параметры и cross-validation score.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" y="516636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0ED"/>
                </a:solidFill>
              </a:rPr>
              <a:t>•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51663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12F"/>
                </a:solidFill>
              </a:rPr>
              <a:t>Артефакт модели сохраняется в models/best_model.joblib.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D7E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5653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6"/>
                </a:solidFill>
              </a:rPr>
              <a:t>Автоматизация машинного обучения • проект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07086"/>
                </a:solidFill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Результаты тестирования модели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086"/>
                </a:solidFill>
              </a:rPr>
              <a:t>Метрики сохранены в reports/metrics.json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80ED"/>
                </a:solidFill>
              </a:rPr>
              <a:t>0.982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6"/>
                </a:solidFill>
              </a:rPr>
              <a:t>Accuracy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331720" y="1234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80ED"/>
                </a:solidFill>
              </a:rPr>
              <a:t>0.986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331720" y="1645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6"/>
                </a:solidFill>
              </a:rPr>
              <a:t>Precision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977640" y="1234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80ED"/>
                </a:solidFill>
              </a:rPr>
              <a:t>0.986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977640" y="1645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6"/>
                </a:solidFill>
              </a:rPr>
              <a:t>Recall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23560" y="1234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80ED"/>
                </a:solidFill>
              </a:rPr>
              <a:t>0.986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623560" y="1645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6"/>
                </a:solidFill>
              </a:rPr>
              <a:t>F1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0" y="1234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80ED"/>
                </a:solidFill>
              </a:rPr>
              <a:t>0.996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0" y="1645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6"/>
                </a:solidFill>
              </a:rPr>
              <a:t>ROC-AUC</a:t>
            </a:r>
            <a:endParaRPr lang="en-US" sz="900" dirty="0"/>
          </a:p>
        </p:txBody>
      </p:sp>
      <p:pic>
        <p:nvPicPr>
          <p:cNvPr id="14" name="Image 0" descr="/mnt/data/automl_project_smyslovskikh/reports/figures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43200"/>
            <a:ext cx="4069080" cy="2971800"/>
          </a:xfrm>
          <a:prstGeom prst="rect">
            <a:avLst/>
          </a:prstGeom>
        </p:spPr>
      </p:pic>
      <p:pic>
        <p:nvPicPr>
          <p:cNvPr id="15" name="Image 1" descr="/mnt/data/automl_project_smyslovskikh/reports/figures/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743200"/>
            <a:ext cx="4069080" cy="29718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989320" y="2788920"/>
            <a:ext cx="0" cy="2743200"/>
          </a:xfrm>
          <a:prstGeom prst="line">
            <a:avLst/>
          </a:prstGeom>
          <a:noFill/>
          <a:ln w="12700">
            <a:solidFill>
              <a:srgbClr val="D7E2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D7E2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48640" y="65653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6"/>
                </a:solidFill>
              </a:rPr>
              <a:t>Автоматизация машинного обучения • проект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07086"/>
                </a:solidFill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MLOps-часть проекта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086"/>
                </a:solidFill>
              </a:rPr>
              <a:t>Тесты, контейнер, CI/CD, мониторинг и GitHub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8680" y="1344168"/>
            <a:ext cx="329184" cy="32918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325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pytest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83280" y="1362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212F"/>
                </a:solidFill>
              </a:rPr>
              <a:t>проверка ETL и предсказаний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2093976"/>
            <a:ext cx="329184" cy="32918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075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Docker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211226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212F"/>
                </a:solidFill>
              </a:rPr>
              <a:t>единое окружение запуска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2843784"/>
            <a:ext cx="329184" cy="329184"/>
          </a:xfrm>
          <a:prstGeom prst="ellipse">
            <a:avLst/>
          </a:prstGeom>
          <a:solidFill>
            <a:srgbClr val="EB575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8254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GitHub Actions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8620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212F"/>
                </a:solidFill>
              </a:rPr>
              <a:t>автотесты и запуск пайплайна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3593592"/>
            <a:ext cx="329184" cy="329184"/>
          </a:xfrm>
          <a:prstGeom prst="ellipse">
            <a:avLst/>
          </a:prstGeom>
          <a:solidFill>
            <a:srgbClr val="16324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35753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MLflow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36118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212F"/>
                </a:solidFill>
              </a:rPr>
              <a:t>метрики, параметры, модель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4343400"/>
            <a:ext cx="329184" cy="329184"/>
          </a:xfrm>
          <a:prstGeom prst="ellipse">
            <a:avLst/>
          </a:prstGeom>
          <a:solidFill>
            <a:srgbClr val="F2C9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43251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GitHub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436168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212F"/>
                </a:solidFill>
              </a:rPr>
              <a:t>ветки, Pull Request, доступ преподавателю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412480" y="1417320"/>
            <a:ext cx="2514600" cy="34290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41080" y="1691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Команды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41080" y="2148840"/>
            <a:ext cx="201168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pytest -q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8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docker build -t </a:t>
            </a:r>
            <a:r>
              <a:rPr lang="en-US" sz="950" dirty="0" err="1">
                <a:solidFill>
                  <a:srgbClr val="18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automl</a:t>
            </a:r>
            <a:r>
              <a:rPr lang="ru-RU" sz="950" dirty="0">
                <a:solidFill>
                  <a:srgbClr val="18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</a:t>
            </a:r>
            <a:r>
              <a:rPr lang="en-US" sz="950" dirty="0">
                <a:solidFill>
                  <a:srgbClr val="18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project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r>
              <a:rPr lang="en-US" sz="950" dirty="0">
                <a:solidFill>
                  <a:srgbClr val="18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docker run --rm </a:t>
            </a:r>
            <a:r>
              <a:rPr lang="en-US" sz="950" dirty="0" err="1">
                <a:solidFill>
                  <a:srgbClr val="18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automl</a:t>
            </a:r>
            <a:r>
              <a:rPr lang="ru-RU" sz="950" dirty="0">
                <a:solidFill>
                  <a:srgbClr val="18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</a:t>
            </a:r>
            <a:r>
              <a:rPr lang="en-US" sz="950" dirty="0">
                <a:solidFill>
                  <a:srgbClr val="18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project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8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mlflow ui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D7E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5653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6"/>
                </a:solidFill>
              </a:rPr>
              <a:t>Автоматизация машинного обучения • проект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07086"/>
                </a:solidFill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Что получилось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68680" y="1435608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14173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ETL-пайплайн реализован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94767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AutoML выбирает лучшую модель автоматически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496312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47802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Метрики и визуализации сохраняются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026664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300837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pytest-тесты проходят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557016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53872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Dockerfile и GitHub Actions готовы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4087368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40690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Мониторинг реализован через JSON + MLflow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4617720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459943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README, отчёт и презентация подготовлены</a:t>
            </a:r>
            <a:endParaRPr lang="en-US" sz="1300" dirty="0"/>
          </a:p>
        </p:txBody>
      </p:sp>
      <p:pic>
        <p:nvPicPr>
          <p:cNvPr id="17" name="Image 0" descr="/mnt/data/automl_project_smyslovskikh/reports/figures/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234440"/>
            <a:ext cx="3566160" cy="30632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452360" y="48006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DE9F8"/>
                </a:solidFill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390</Words>
  <Application>Microsoft Office PowerPoint</Application>
  <PresentationFormat>Широкоэкранный</PresentationFormat>
  <Paragraphs>129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Aptos Display</vt:lpstr>
      <vt:lpstr>Aptos Mono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Student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Автоматизация ML-пайплайна</dc:title>
  <dc:subject>AutoML project</dc:subject>
  <dc:creator>OpenAI</dc:creator>
  <cp:lastModifiedBy>rtyre dfghs</cp:lastModifiedBy>
  <cp:revision>3</cp:revision>
  <dcterms:created xsi:type="dcterms:W3CDTF">2026-05-23T16:52:40Z</dcterms:created>
  <dcterms:modified xsi:type="dcterms:W3CDTF">2026-05-23T18:23:38Z</dcterms:modified>
</cp:coreProperties>
</file>